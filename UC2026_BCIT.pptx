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455" r:id="rId5"/>
  </p:sldMasterIdLst>
  <p:notesMasterIdLst>
    <p:notesMasterId r:id="rId40"/>
  </p:notesMasterIdLst>
  <p:handoutMasterIdLst>
    <p:handoutMasterId r:id="rId41"/>
  </p:handout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0160000" cy="5715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FFF200"/>
    <a:srgbClr val="003C71"/>
    <a:srgbClr val="002C54"/>
    <a:srgbClr val="008EC8"/>
    <a:srgbClr val="AFC828"/>
    <a:srgbClr val="009686"/>
    <a:srgbClr val="790A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36" autoAdjust="0"/>
    <p:restoredTop sz="94762" autoAdjust="0"/>
  </p:normalViewPr>
  <p:slideViewPr>
    <p:cSldViewPr snapToGrid="0" snapToObjects="1">
      <p:cViewPr varScale="1">
        <p:scale>
          <a:sx n="137" d="100"/>
          <a:sy n="137" d="100"/>
        </p:scale>
        <p:origin x="288" y="101"/>
      </p:cViewPr>
      <p:guideLst>
        <p:guide orient="horz" pos="1800"/>
        <p:guide pos="3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48CF9-0A8B-BB4F-86F9-11C799FE639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C4999-0063-384D-968F-81C94B494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87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329B9-FE31-8D4D-81FA-D536AEC6366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1B5FD0-66F8-F24B-B5A5-1ECCF6D96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96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76930" y="1331685"/>
            <a:ext cx="9169800" cy="1547245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6400"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3908" y="3036224"/>
            <a:ext cx="9162821" cy="10795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>
              <a:buNone/>
              <a:defRPr sz="1800" baseline="0">
                <a:solidFill>
                  <a:schemeClr val="tx1"/>
                </a:solidFill>
              </a:defRPr>
            </a:lvl1pPr>
          </a:lstStyle>
          <a:p>
            <a:r>
              <a:rPr lang="en-US" sz="2000" spc="0" baseline="0" dirty="0"/>
              <a:t>Presented by:  BCIT faculty or staff name</a:t>
            </a:r>
            <a:br>
              <a:rPr lang="en-US" sz="2000" spc="0" baseline="0" dirty="0"/>
            </a:br>
            <a:r>
              <a:rPr lang="en-US" sz="2000" spc="0" baseline="0" dirty="0"/>
              <a:t>Month Day, Year</a:t>
            </a:r>
          </a:p>
        </p:txBody>
      </p:sp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76928" y="1476400"/>
            <a:ext cx="8411448" cy="33154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18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  <a:br>
              <a:rPr lang="en-CA" dirty="0"/>
            </a:br>
            <a:r>
              <a:rPr lang="en-CA" dirty="0"/>
              <a:t>Agenda item goes here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383910" y="628212"/>
            <a:ext cx="8404465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753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0889" y="1476117"/>
            <a:ext cx="8438891" cy="34024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Bulleted text looks best left aligned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369952" y="628213"/>
            <a:ext cx="8459828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7444" y="1483094"/>
            <a:ext cx="4804182" cy="3345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Left aligned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383912" y="628213"/>
            <a:ext cx="4807714" cy="650873"/>
          </a:xfrm>
          <a:prstGeom prst="rect">
            <a:avLst/>
          </a:prstGeom>
        </p:spPr>
        <p:txBody>
          <a:bodyPr>
            <a:noAutofit/>
          </a:bodyPr>
          <a:lstStyle>
            <a:lvl1pPr algn="l" fontAlgn="t">
              <a:defRPr b="1" i="0" u="none" baseline="0">
                <a:solidFill>
                  <a:schemeClr val="tx1"/>
                </a:solidFill>
                <a:uFill>
                  <a:solidFill>
                    <a:srgbClr val="002C54"/>
                  </a:solidFill>
                </a:u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600700" y="628282"/>
            <a:ext cx="3869871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Graphic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-10445"/>
            <a:ext cx="101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87444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285750" indent="-285750">
              <a:buFont typeface="Wingdings" charset="2"/>
              <a:buChar char="§"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Left aligned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3617983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0" indent="0">
              <a:buFont typeface="Wingdings" charset="2"/>
              <a:buNone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852054" y="1124954"/>
            <a:ext cx="2879130" cy="370385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>
            <a:lvl1pPr marL="0" indent="0">
              <a:buFont typeface="Wingdings" charset="2"/>
              <a:buNone/>
              <a:defRPr sz="2000" baseline="0">
                <a:solidFill>
                  <a:schemeClr val="tx1"/>
                </a:solidFill>
              </a:defRPr>
            </a:lvl1pPr>
            <a:lvl2pPr marL="742932" indent="-285750">
              <a:buFont typeface="Wingdings" charset="2"/>
              <a:buChar char="§"/>
              <a:defRPr sz="1800">
                <a:solidFill>
                  <a:schemeClr val="tx1"/>
                </a:solidFill>
              </a:defRPr>
            </a:lvl2pPr>
            <a:lvl3pPr marL="1200114" indent="-285750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 hasCustomPrompt="1"/>
          </p:nvPr>
        </p:nvSpPr>
        <p:spPr>
          <a:xfrm>
            <a:off x="387350" y="628650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1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3616568" y="628214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2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4" hasCustomPrompt="1"/>
          </p:nvPr>
        </p:nvSpPr>
        <p:spPr>
          <a:xfrm>
            <a:off x="6845786" y="628066"/>
            <a:ext cx="2879725" cy="496888"/>
          </a:xfrm>
          <a:prstGeom prst="rect">
            <a:avLst/>
          </a:prstGeom>
          <a:solidFill>
            <a:schemeClr val="tx1"/>
          </a:solidFill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182" indent="0">
              <a:buNone/>
              <a:defRPr/>
            </a:lvl2pPr>
            <a:lvl3pPr marL="914364" indent="0">
              <a:buNone/>
              <a:defRPr/>
            </a:lvl3pPr>
            <a:lvl4pPr marL="1371546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 dirty="0"/>
              <a:t>Title 3</a:t>
            </a:r>
          </a:p>
        </p:txBody>
      </p:sp>
    </p:spTree>
    <p:extLst>
      <p:ext uri="{BB962C8B-B14F-4D97-AF65-F5344CB8AC3E}">
        <p14:creationId xmlns:p14="http://schemas.microsoft.com/office/powerpoint/2010/main" val="129809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tx1"/>
                </a:solidFill>
              </a:rPr>
              <a:pPr/>
              <a:t>‹#›</a:t>
            </a:fld>
            <a:endParaRPr lang="en-US" sz="1000" baseline="0" dirty="0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D36F1A8E-323E-5242-BECB-ECF89CE9E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1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baseline="0" dirty="0">
              <a:solidFill>
                <a:schemeClr val="tx1"/>
              </a:solidFill>
            </a:endParaRPr>
          </a:p>
        </p:txBody>
      </p:sp>
      <p:pic>
        <p:nvPicPr>
          <p:cNvPr id="4" name="Picture 3" descr="A picture containing flower, drawing&#10;&#10;Description automatically generated">
            <a:extLst>
              <a:ext uri="{FF2B5EF4-FFF2-40B4-BE49-F238E27FC236}">
                <a16:creationId xmlns:a16="http://schemas.microsoft.com/office/drawing/2014/main" id="{CD26FFEE-01F0-B240-8F3A-FC81114262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950495"/>
            <a:ext cx="5823284" cy="1179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4"/>
          <p:cNvSpPr txBox="1">
            <a:spLocks/>
          </p:cNvSpPr>
          <p:nvPr userDrawn="1"/>
        </p:nvSpPr>
        <p:spPr>
          <a:xfrm>
            <a:off x="9731184" y="53392"/>
            <a:ext cx="364520" cy="235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EC5AE0-D4BE-F947-B377-FB73278FD741}" type="slidenum">
              <a:rPr lang="en-US" sz="1000" baseline="0" smtClean="0">
                <a:solidFill>
                  <a:schemeClr val="bg1"/>
                </a:solidFill>
              </a:rPr>
              <a:pPr/>
              <a:t>‹#›</a:t>
            </a:fld>
            <a:endParaRPr lang="en-US" sz="1000" baseline="0" dirty="0">
              <a:solidFill>
                <a:schemeClr val="bg1"/>
              </a:solidFill>
            </a:endParaRPr>
          </a:p>
        </p:txBody>
      </p:sp>
      <p:pic>
        <p:nvPicPr>
          <p:cNvPr id="5" name="Picture 4" descr="A person walking down a street&#10;&#10;Description automatically generated">
            <a:extLst>
              <a:ext uri="{FF2B5EF4-FFF2-40B4-BE49-F238E27FC236}">
                <a16:creationId xmlns:a16="http://schemas.microsoft.com/office/drawing/2014/main" id="{8AA626F1-1DBC-1F47-B421-4ABCFC8F09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0160000" cy="5715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7128274-5143-FE7C-F937-9B6BC78655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677" y="2110489"/>
            <a:ext cx="8265017" cy="549103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lnSpc>
                <a:spcPct val="70000"/>
              </a:lnSpc>
              <a:spcBef>
                <a:spcPts val="0"/>
              </a:spcBef>
              <a:buNone/>
              <a:defRPr sz="5000" b="1" spc="-208" baseline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AB480-F9FC-A1E2-9F6C-F0817601239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60E62C5-EF14-4638-BF0A-C516B0BED5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0AD106D-B2C6-148D-C305-EB47B2DB19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677" y="2819229"/>
            <a:ext cx="8265016" cy="549103"/>
          </a:xfrm>
          <a:prstGeom prst="rect">
            <a:avLst/>
          </a:prstGeom>
        </p:spPr>
        <p:txBody>
          <a:bodyPr lIns="0" rIns="0" anchor="t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333" b="0" spc="0" baseline="0"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Presented by:</a:t>
            </a:r>
          </a:p>
          <a:p>
            <a:pPr lvl="0"/>
            <a:r>
              <a:rPr lang="en-US"/>
              <a:t>Date: </a:t>
            </a:r>
          </a:p>
        </p:txBody>
      </p:sp>
    </p:spTree>
    <p:extLst>
      <p:ext uri="{BB962C8B-B14F-4D97-AF65-F5344CB8AC3E}">
        <p14:creationId xmlns:p14="http://schemas.microsoft.com/office/powerpoint/2010/main" val="467694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75355"/>
            <a:ext cx="8636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38500"/>
            <a:ext cx="7112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19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6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570" y="3672418"/>
            <a:ext cx="8636000" cy="1135062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570" y="2422261"/>
            <a:ext cx="86360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92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8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85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81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77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97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97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2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09" y="5183025"/>
            <a:ext cx="1290320" cy="320040"/>
          </a:xfrm>
          <a:prstGeom prst="rect">
            <a:avLst/>
          </a:prstGeom>
        </p:spPr>
      </p:pic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24796C5-413D-954A-83CA-BA79B94E15A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66047" y="5007229"/>
            <a:ext cx="564189" cy="50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43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93456" r:id="rId1"/>
    <p:sldLayoutId id="2147493528" r:id="rId2"/>
    <p:sldLayoutId id="2147493457" r:id="rId3"/>
    <p:sldLayoutId id="2147493459" r:id="rId4"/>
    <p:sldLayoutId id="2147493475" r:id="rId5"/>
    <p:sldLayoutId id="2147493487" r:id="rId6"/>
    <p:sldLayoutId id="2147493488" r:id="rId7"/>
    <p:sldLayoutId id="2147493486" r:id="rId8"/>
    <p:sldLayoutId id="2147493529" r:id="rId9"/>
    <p:sldLayoutId id="2147493530" r:id="rId10"/>
    <p:sldLayoutId id="2147493531" r:id="rId11"/>
    <p:sldLayoutId id="2147493532" r:id="rId12"/>
  </p:sldLayoutIdLst>
  <p:hf hdr="0" ftr="0" dt="0"/>
  <p:txStyles>
    <p:titleStyle>
      <a:lvl1pPr algn="ctr" defTabSz="457182" rtl="0" eaLnBrk="1" latinLnBrk="0" hangingPunct="1">
        <a:spcBef>
          <a:spcPct val="0"/>
        </a:spcBef>
        <a:buNone/>
        <a:defRPr sz="5000" b="0" i="0" kern="1200">
          <a:solidFill>
            <a:schemeClr val="tx2">
              <a:lumMod val="75000"/>
            </a:schemeClr>
          </a:solidFill>
          <a:latin typeface="Arial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3000" kern="1200">
          <a:solidFill>
            <a:schemeClr val="tx2">
              <a:lumMod val="75000"/>
            </a:schemeClr>
          </a:solidFill>
          <a:latin typeface="Arial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Simulator Lab Exercises for Kongsberg TPPS and 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Serhat Beyenir &amp; Sanja Boskovic</a:t>
            </a:r>
            <a:br>
              <a:rPr lang="en-CA" dirty="0"/>
            </a:br>
            <a:endParaRPr lang="en-CA" dirty="0"/>
          </a:p>
          <a:p>
            <a:r>
              <a:rPr lang="en-CA" dirty="0"/>
              <a:t>UC2026 Vancouver</a:t>
            </a:r>
          </a:p>
          <a:p>
            <a:r>
              <a:rPr lang="en-CA" dirty="0"/>
              <a:t>26.10.2026 — 29.10.2026</a:t>
            </a:r>
            <a:br>
              <a:rPr lang="en-CA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Simulator lab exercises (SIM LABS) support Thermodynamics and Thermal Power Plant Simulator (TPPS) courses</a:t>
            </a:r>
          </a:p>
          <a:p>
            <a:pPr lvl="0"/>
            <a:r>
              <a:t>Built on Kongsberg’s TPPS platform</a:t>
            </a:r>
          </a:p>
          <a:p>
            <a:pPr lvl="0"/>
            <a:r>
              <a:t>This session presents a selection of SIM LABS developed for classroom and lab use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Power Engineering students often struggle with theoretical concepts</a:t>
            </a:r>
          </a:p>
          <a:p>
            <a:pPr lvl="0"/>
            <a:r>
              <a:t>Instructors face limited instructional time to cover both theory and practice</a:t>
            </a:r>
          </a:p>
          <a:p>
            <a:pPr lvl="0"/>
            <a:r>
              <a:t>A gap remains between classroom theory and hands on plant operation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89" y="1476117"/>
            <a:ext cx="9399882" cy="3402419"/>
          </a:xfrm>
        </p:spPr>
        <p:txBody>
          <a:bodyPr/>
          <a:lstStyle/>
          <a:p>
            <a:pPr lvl="0"/>
            <a:r>
              <a:rPr sz="2800" dirty="0"/>
              <a:t>Strengthen understanding of core </a:t>
            </a:r>
            <a:r>
              <a:rPr sz="2800" dirty="0" err="1"/>
              <a:t>ThermoFluids</a:t>
            </a:r>
            <a:r>
              <a:rPr sz="2800" dirty="0"/>
              <a:t> principles</a:t>
            </a:r>
          </a:p>
          <a:p>
            <a:pPr lvl="0"/>
            <a:r>
              <a:rPr sz="2800" dirty="0"/>
              <a:t>Support application of theory in realistic operational contexts</a:t>
            </a:r>
          </a:p>
          <a:p>
            <a:pPr lvl="0"/>
            <a:r>
              <a:rPr sz="2800" dirty="0"/>
              <a:t>Allow students to visualize processes and explore system </a:t>
            </a:r>
            <a:r>
              <a:rPr sz="2800" dirty="0" err="1"/>
              <a:t>behaviour</a:t>
            </a:r>
            <a:endParaRPr sz="2800" dirty="0"/>
          </a:p>
          <a:p>
            <a:pPr lvl="0"/>
            <a:r>
              <a:rPr sz="2800" dirty="0"/>
              <a:t>Build cause and effect connections between operating parameters and outcomes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SIM LABS Help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Enhance conceptual comprehension</a:t>
            </a:r>
          </a:p>
          <a:p>
            <a:pPr lvl="0"/>
            <a:r>
              <a:t>Prepare learners for hands on work with real equipment in a physical plant</a:t>
            </a:r>
          </a:p>
          <a:p>
            <a:pPr lvl="0"/>
            <a:r>
              <a:t>Reinforce safe operational practices</a:t>
            </a:r>
          </a:p>
          <a:p>
            <a:pPr lvl="0"/>
            <a:r>
              <a:t>Build environmental awareness within steam plant systems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Boiler Efficiency</a:t>
            </a:r>
          </a:p>
          <a:p>
            <a:pPr lvl="0"/>
            <a:r>
              <a:t>Turbine Efficiency</a:t>
            </a:r>
          </a:p>
          <a:p>
            <a:pPr lvl="0"/>
            <a:r>
              <a:t>Power Plant Efficiency</a:t>
            </a:r>
          </a:p>
          <a:p>
            <a:pPr lvl="0"/>
            <a:r>
              <a:t>NOx Emissions</a:t>
            </a:r>
          </a:p>
          <a:p>
            <a:pPr lvl="0"/>
            <a:r>
              <a:t>Heat Exchangers</a:t>
            </a:r>
          </a:p>
          <a:p>
            <a:pPr lvl="0"/>
            <a:r>
              <a:t>Combustion Analysis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 LABS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Boiler Efficiency</a:t>
            </a:r>
          </a:p>
          <a:p>
            <a:pPr lvl="0"/>
            <a:r>
              <a:t>Turbine Efficiency</a:t>
            </a:r>
          </a:p>
          <a:p>
            <a:pPr lvl="0"/>
            <a:r>
              <a:t>Power Plant Efficiency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SIM LABS Featured in This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Boiler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9539272" cy="3402419"/>
              </a:xfrm>
            </p:spPr>
            <p:txBody>
              <a:bodyPr/>
              <a:lstStyle/>
              <a:p>
                <a:pPr lvl="0"/>
                <a:r>
                  <a:rPr dirty="0"/>
                  <a:t>Operate the plant in four modes and compute boiler thermal efficiency: 230 MW burning HFO, 80% load burning biofuel, 80% load burning coal, and 80% load burning coal with soot buildup</a:t>
                </a:r>
              </a:p>
              <a:p>
                <a:pPr lvl="0"/>
                <a:r>
                  <a:rPr dirty="0"/>
                  <a:t>Boiler thermal efficiency is the ratio of energy to steam over energy from fuel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m:rPr>
                            <m:nor/>
                          </m:rPr>
                          <a:rPr i="0"/>
                          <m:t>boiler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𝐻𝑉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9539272" cy="3402419"/>
              </a:xfrm>
              <a:blipFill>
                <a:blip r:embed="rId2"/>
                <a:stretch>
                  <a:fillRect l="-1278" t="-2330" r="-2492" b="-1218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and Theory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Use of trends.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pic>
        <p:nvPicPr>
          <p:cNvPr id="3" name="Picture 1" descr="figures/Trends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55055" y="2006670"/>
            <a:ext cx="4049889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5845443"/>
              </p:ext>
            </p:extLst>
          </p:nvPr>
        </p:nvGraphicFramePr>
        <p:xfrm>
          <a:off x="390525" y="1476375"/>
          <a:ext cx="843915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Description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H00810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HFO heating value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H00870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Pellet heating value (biofuel)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H00830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Coal heating value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Heating Values: Trend Tags to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Coal operation with soot buildup.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Simulating Soot Buildup</a:t>
            </a:r>
          </a:p>
        </p:txBody>
      </p:sp>
      <p:pic>
        <p:nvPicPr>
          <p:cNvPr id="3" name="Picture 1" descr="figures/soot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76778" y="2060793"/>
            <a:ext cx="6406444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5759163"/>
              </p:ext>
            </p:extLst>
          </p:nvPr>
        </p:nvGraphicFramePr>
        <p:xfrm>
          <a:off x="390525" y="1476375"/>
          <a:ext cx="9350064" cy="32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Description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Value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Unit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P02601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pressure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144.72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bara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T02602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temperature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537.81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°C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H02603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HP line steam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3422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T02447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</a:t>
                      </a:r>
                      <a:r>
                        <a:rPr sz="20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heat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temp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248.92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/>
                        <a:t>°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H02448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heat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1071.3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G02600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flow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650.25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to</a:t>
                      </a:r>
                      <a:r>
                        <a:rPr lang="en-CA" sz="2000" dirty="0">
                          <a:solidFill>
                            <a:schemeClr val="tx2"/>
                          </a:solidFill>
                        </a:rPr>
                        <a:t>n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sz="20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Heat Transferred: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1528542675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Normal Operation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464388"/>
              </p:ext>
            </p:extLst>
          </p:nvPr>
        </p:nvGraphicFramePr>
        <p:xfrm>
          <a:off x="390525" y="1476375"/>
          <a:ext cx="9491499" cy="3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Description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Value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/>
                        <a:t>Unit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P02601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pressure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141.72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bara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T02602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temperature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463.93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°C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H02603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3217.6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T02447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heat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temp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243.08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°C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H02448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Start up heat exchanger </a:t>
                      </a:r>
                      <a:r>
                        <a:rPr sz="2000" dirty="0" err="1">
                          <a:solidFill>
                            <a:schemeClr val="tx2"/>
                          </a:solidFill>
                        </a:rPr>
                        <a:t>feedw</a:t>
                      </a:r>
                      <a:r>
                        <a:rPr sz="2000" dirty="0">
                          <a:solidFill>
                            <a:schemeClr val="tx2"/>
                          </a:solidFill>
                        </a:rPr>
                        <a:t> outlet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1046.3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G02600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HP line steam flow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666.3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ton/h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200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Heat Transferred: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1446737190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kJ/h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Soot Buildup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Four initial conditions: I10, I15, I14 (coal), and I14 with soot configured via MD250</a:t>
            </a:r>
          </a:p>
          <a:p>
            <a:pPr lvl="0"/>
            <a:r>
              <a:t>Log HFO, pellet, and coal heating value tags, then use steam tables to find enthalpy values</a:t>
            </a:r>
          </a:p>
          <a:p>
            <a:pPr lvl="0"/>
            <a:r>
              <a:t>Deliverables: trend plots for all four conditions, efficiency computations, and a conclusion comparing results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Boiler Efficiency: Lab and Deliverables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Turbine Efficiency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9293945" cy="3402419"/>
              </a:xfrm>
            </p:spPr>
            <p:txBody>
              <a:bodyPr/>
              <a:lstStyle/>
              <a:p>
                <a:pPr lvl="0"/>
                <a:r>
                  <a:rPr sz="2000" dirty="0"/>
                  <a:t>Operate the plant at 35% load, 80% load, and 230 MW to compute the isentropic enthalpy change and thermal efficiency for the HP turbine</a:t>
                </a:r>
              </a:p>
              <a:p>
                <a:pPr lvl="0"/>
                <a:r>
                  <a:rPr sz="2000" dirty="0"/>
                  <a:t>Turbine efficiency compares the actual enthalpy drop to the ideal, constant entropy expansion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Turbine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  <a:p>
                <a:pPr lvl="0"/>
                <a:r>
                  <a:rPr sz="2000" dirty="0"/>
                  <a:t>A higher pressure drop in a single stage increases the reheat factor and lowers efficiency, which is why multi-stage turbines with reheat perform better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9293945" cy="3402419"/>
              </a:xfrm>
              <a:blipFill>
                <a:blip r:embed="rId2"/>
                <a:stretch>
                  <a:fillRect l="-590" t="-71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 and Theory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Turbine Efficiency.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h-s Diagram</a:t>
            </a:r>
          </a:p>
        </p:txBody>
      </p:sp>
      <p:pic>
        <p:nvPicPr>
          <p:cNvPr id="3" name="Picture 1" descr="figures/h-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69166" y="1984367"/>
            <a:ext cx="4021667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dirty="0"/>
              <a:t>I09 E23356: 101.05 MW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Turbine Efficiency: 101 MW </a:t>
            </a:r>
            <a:r>
              <a:rPr sz="3200" dirty="0"/>
              <a:t>Sample</a:t>
            </a:r>
            <a:endParaRPr sz="3600" dirty="0"/>
          </a:p>
        </p:txBody>
      </p:sp>
      <p:pic>
        <p:nvPicPr>
          <p:cNvPr id="3" name="Picture 1" descr="figures/101M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4444" y="2079153"/>
            <a:ext cx="6491111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t>I10 E23356: 249.86 MW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Turbine Efficiency: 250 MW Sample</a:t>
            </a:r>
          </a:p>
        </p:txBody>
      </p:sp>
      <p:pic>
        <p:nvPicPr>
          <p:cNvPr id="3" name="Picture 1" descr="figures/250MW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4444" y="1995518"/>
            <a:ext cx="6491111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501114"/>
              </p:ext>
            </p:extLst>
          </p:nvPr>
        </p:nvGraphicFramePr>
        <p:xfrm>
          <a:off x="369953" y="1205706"/>
          <a:ext cx="9445186" cy="351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8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9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3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Tags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Description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Units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I13 </a:t>
                      </a:r>
                      <a:br>
                        <a:rPr lang="en-CA" sz="1600" dirty="0"/>
                      </a:br>
                      <a:r>
                        <a:rPr sz="1600" dirty="0"/>
                        <a:t>35% Load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I14 80% Load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I10 </a:t>
                      </a:r>
                      <a:br>
                        <a:rPr lang="en-CA" sz="1600" dirty="0"/>
                      </a:br>
                      <a:r>
                        <a:rPr sz="1600" dirty="0"/>
                        <a:t>230 MW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H03008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HP Turbine steam enthalpy </a:t>
                      </a:r>
                      <a:br>
                        <a:rPr lang="en-CA" sz="1400" dirty="0">
                          <a:solidFill>
                            <a:schemeClr val="tx2"/>
                          </a:solidFill>
                        </a:rPr>
                      </a:br>
                      <a:r>
                        <a:rPr sz="1400" dirty="0">
                          <a:solidFill>
                            <a:schemeClr val="tx2"/>
                          </a:solidFill>
                        </a:rPr>
                        <a:t>at control valve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3239.99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3421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3403.27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H03016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HP Turbine steam enthalpy </a:t>
                      </a:r>
                      <a:br>
                        <a:rPr lang="en-CA" sz="1400" dirty="0">
                          <a:solidFill>
                            <a:schemeClr val="tx2"/>
                          </a:solidFill>
                        </a:rPr>
                      </a:br>
                      <a:r>
                        <a:rPr sz="1400" dirty="0">
                          <a:solidFill>
                            <a:schemeClr val="tx2"/>
                          </a:solidFill>
                        </a:rPr>
                        <a:t>at outlet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2927.25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3083.99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3075.49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Z03020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HP turbine thermodynamic efficiency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%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85.95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88.39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Actual Change in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312.74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337.01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327.78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Isentropic Change in Enthalpy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kJ/kg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363.86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381.23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370.83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endParaRPr sz="1400"/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Calculated </a:t>
                      </a:r>
                      <a:r>
                        <a:rPr sz="1400" dirty="0" err="1">
                          <a:solidFill>
                            <a:schemeClr val="tx2"/>
                          </a:solidFill>
                        </a:rPr>
                        <a:t>ηTurbine</a:t>
                      </a:r>
                      <a:endParaRPr sz="1400" dirty="0">
                        <a:solidFill>
                          <a:schemeClr val="tx2"/>
                        </a:solidFill>
                      </a:endParaRP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%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85.95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88.4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400" dirty="0">
                          <a:solidFill>
                            <a:schemeClr val="tx2"/>
                          </a:solidFill>
                        </a:rPr>
                        <a:t>88.39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HP Turbine Efficiency (Abbreviated)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889" y="1476117"/>
            <a:ext cx="9299521" cy="3402419"/>
          </a:xfrm>
        </p:spPr>
        <p:txBody>
          <a:bodyPr/>
          <a:lstStyle/>
          <a:p>
            <a:pPr lvl="0"/>
            <a:r>
              <a:rPr dirty="0"/>
              <a:t>Three initial conditions: I13 (35% load), I14 (80% load), and I10 (230 MW)</a:t>
            </a:r>
          </a:p>
          <a:p>
            <a:pPr lvl="0"/>
            <a:r>
              <a:rPr dirty="0"/>
              <a:t>Compare results across conditions to determine which load yields the most </a:t>
            </a:r>
            <a:r>
              <a:rPr dirty="0" err="1"/>
              <a:t>favourable</a:t>
            </a:r>
            <a:r>
              <a:rPr dirty="0"/>
              <a:t> efficiency</a:t>
            </a:r>
          </a:p>
          <a:p>
            <a:pPr lvl="0"/>
            <a:r>
              <a:rPr dirty="0"/>
              <a:t>Deliverables: trend plots for all three conditions, efficiency computations, and a conclusion with suggestions for further study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Turbine Efficiency: Lab and Deliverables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Plant Efficiency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9489091" cy="3402419"/>
              </a:xfrm>
            </p:spPr>
            <p:txBody>
              <a:bodyPr/>
              <a:lstStyle/>
              <a:p>
                <a:pPr lvl="0"/>
                <a:r>
                  <a:rPr dirty="0"/>
                  <a:t>Operate the plant at full capacity and compute overall efficiency under three conditions: normal operation, high cooling water temperature (35°C), and without regeneration</a:t>
                </a:r>
              </a:p>
              <a:p>
                <a:pPr lvl="0"/>
                <a:r>
                  <a:rPr dirty="0"/>
                  <a:t>The Rankine cycle efficiency is net work output over heat supplied in the boiler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Rankine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Turbine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Pump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boiler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9489091" cy="3402419"/>
              </a:xfrm>
              <a:blipFill>
                <a:blip r:embed="rId2"/>
                <a:stretch>
                  <a:fillRect l="-1285" t="-2330" r="-385" b="-1666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 and Theory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90889" y="1476117"/>
                <a:ext cx="8903652" cy="3402419"/>
              </a:xfrm>
            </p:spPr>
            <p:txBody>
              <a:bodyPr/>
              <a:lstStyle/>
              <a:p>
                <a:pPr lvl="0"/>
                <a:r>
                  <a:rPr dirty="0"/>
                  <a:t>Reheat and regeneration both raise the average temperature at which heat is supplied, improving efficiency over the simple Rankine cycle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i="0"/>
                            <m:t>thermal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Turbines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Pumps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boiler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Reheat</m:t>
                              </m:r>
                              <m:r>
                                <m:rPr>
                                  <m:nor/>
                                </m:rPr>
                                <a:rPr i="0"/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i="0"/>
                                <m:t>Reheat</m:t>
                              </m:r>
                              <m:r>
                                <m:rPr>
                                  <m:nor/>
                                </m:rPr>
                                <a:rPr i="0"/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889" y="1476117"/>
                <a:ext cx="8903652" cy="3402419"/>
              </a:xfrm>
              <a:blipFill>
                <a:blip r:embed="rId2"/>
                <a:stretch>
                  <a:fillRect l="-1369" t="-2330" r="-34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Reheat and regeneration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654477"/>
              </p:ext>
            </p:extLst>
          </p:nvPr>
        </p:nvGraphicFramePr>
        <p:xfrm>
          <a:off x="390525" y="1476375"/>
          <a:ext cx="843915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/>
                        <a:t>Tag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/>
                        <a:t>Description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  <a:latin typeface="Courier"/>
                        </a:rPr>
                        <a:t>Q02395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Reheater 1 transferred heat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  <a:latin typeface="Courier"/>
                        </a:rPr>
                        <a:t>Q02375</a:t>
                      </a:r>
                    </a:p>
                  </a:txBody>
                  <a:tcPr marL="101600" marR="101600" marT="50800" marB="50800"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2000" dirty="0">
                          <a:solidFill>
                            <a:schemeClr val="tx2"/>
                          </a:solidFill>
                        </a:rPr>
                        <a:t>Reheater 2 transferred heat</a:t>
                      </a:r>
                    </a:p>
                  </a:txBody>
                  <a:tcPr marL="101600" marR="101600" marT="50800" marB="50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Hints &amp; Tips: Trend Tags to Log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For </a:t>
            </a:r>
            <a:r>
              <a:rPr b="1"/>
              <a:t>Boiler Feedwater Inlet Temperature</a:t>
            </a:r>
            <a:r>
              <a:t>, use the Startup Heat Exchanger Feedwater Outlet Temperature (tag </a:t>
            </a:r>
            <a:r>
              <a:rPr>
                <a:latin typeface="Courier"/>
              </a:rPr>
              <a:t>T02447</a:t>
            </a:r>
            <a:r>
              <a:t>).</a:t>
            </a:r>
          </a:p>
          <a:p>
            <a:pPr lvl="0"/>
            <a:r>
              <a:t>For the third calculation, make sure you closed all steam extraction valves and set T00305 to 10°C: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Hints &amp; Tips: Temperature Settings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dirty="0"/>
              <a:t>Lake water temperature</a:t>
            </a:r>
            <a:r>
              <a:rPr lang="en-CA" dirty="0"/>
              <a:t> T00305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Lake Water Temperature Setting</a:t>
            </a:r>
          </a:p>
        </p:txBody>
      </p:sp>
      <p:pic>
        <p:nvPicPr>
          <p:cNvPr id="3" name="Picture 1" descr="figures/LakeWaterTemp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34444" y="2073577"/>
            <a:ext cx="6491111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/>
          <a:lstStyle/>
          <a:p>
            <a:pPr marL="0" indent="0" algn="ctr">
              <a:buNone/>
            </a:pPr>
            <a:r>
              <a:rPr dirty="0"/>
              <a:t>No steam extraction</a:t>
            </a:r>
            <a:r>
              <a:rPr lang="en-CA" dirty="0"/>
              <a:t> MD 300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steam extraction</a:t>
            </a:r>
          </a:p>
        </p:txBody>
      </p:sp>
      <p:pic>
        <p:nvPicPr>
          <p:cNvPr id="3" name="Picture 1" descr="figures/NoExtraction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02555" y="1989943"/>
            <a:ext cx="5954889" cy="320322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sz="2400" dirty="0"/>
              <a:t>Run initial condition I10 and draw a T-S diagram of the cycle including reheat and regeneration</a:t>
            </a:r>
          </a:p>
          <a:p>
            <a:pPr lvl="0"/>
            <a:r>
              <a:rPr sz="2400" dirty="0"/>
              <a:t>Set cooling water temperature (tag T00305) to 35°C for the high temperature case, and to 10°C with extraction valves closed for the no regeneration case</a:t>
            </a:r>
          </a:p>
          <a:p>
            <a:pPr lvl="0"/>
            <a:r>
              <a:rPr sz="2400" dirty="0"/>
              <a:t>Deliverables: T-S diagram, trend plots, efficiency computations for all three conditions, and a conclusion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Power Plant Efficiency: Lab and Deliverables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SIM LABS bridge the gap between theory and practical plant operation</a:t>
            </a:r>
          </a:p>
          <a:p>
            <a:pPr lvl="0"/>
            <a:r>
              <a:t>Each lab pairs a theoretical model with hands on simulator operation, reinforcing safe practice and environmental awareness</a:t>
            </a:r>
          </a:p>
          <a:p>
            <a:pPr lvl="0"/>
            <a:r>
              <a:t>Q&amp;A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663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9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CIT 1">
      <a:dk1>
        <a:srgbClr val="FFFFFF"/>
      </a:dk1>
      <a:lt1>
        <a:srgbClr val="003C71"/>
      </a:lt1>
      <a:dk2>
        <a:srgbClr val="FFFFFF"/>
      </a:dk2>
      <a:lt2>
        <a:srgbClr val="003C71"/>
      </a:lt2>
      <a:accent1>
        <a:srgbClr val="FFF200"/>
      </a:accent1>
      <a:accent2>
        <a:srgbClr val="FFF200"/>
      </a:accent2>
      <a:accent3>
        <a:srgbClr val="FFF200"/>
      </a:accent3>
      <a:accent4>
        <a:srgbClr val="595959"/>
      </a:accent4>
      <a:accent5>
        <a:srgbClr val="BFBFBF"/>
      </a:accent5>
      <a:accent6>
        <a:srgbClr val="BFBFBF"/>
      </a:accent6>
      <a:hlink>
        <a:srgbClr val="003C71"/>
      </a:hlink>
      <a:folHlink>
        <a:srgbClr val="003C7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CIT PPT template_16x9_blocks_may2016" id="{02CC6107-BDF2-D04D-96C5-94741051DBD2}" vid="{19A11FED-B99E-524E-9BA4-627E8CE39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b78b11-5582-4f0d-9ede-26dc097105ae" xsi:nil="true"/>
    <_dlc_DocId xmlns="92b78b11-5582-4f0d-9ede-26dc097105ae">EJAN5VX4DXHY-1980639817-436</_dlc_DocId>
    <_dlc_DocIdUrl xmlns="92b78b11-5582-4f0d-9ede-26dc097105ae">
      <Url>https://bcit365.sharepoint.com/sites/bcit-marcomm/_layouts/15/DocIdRedir.aspx?ID=EJAN5VX4DXHY-1980639817-436</Url>
      <Description>EJAN5VX4DXHY-1980639817-436</Description>
    </_dlc_DocIdUrl>
    <lcf76f155ced4ddcb4097134ff3c332f xmlns="4b8b16d9-d63f-485d-9d73-fc963e0128fa">
      <Terms xmlns="http://schemas.microsoft.com/office/infopath/2007/PartnerControls"/>
    </lcf76f155ced4ddcb4097134ff3c332f>
    <TaxKeywordTaxHTField xmlns="92b78b11-5582-4f0d-9ede-26dc097105ae">
      <Terms xmlns="http://schemas.microsoft.com/office/infopath/2007/PartnerControls"/>
    </TaxKeywordTaxHTField>
    <b6c4508d405f4c0799f512db8db5e023 xmlns="92b78b11-5582-4f0d-9ede-26dc097105ae">
      <Terms xmlns="http://schemas.microsoft.com/office/infopath/2007/PartnerControls"/>
    </b6c4508d405f4c0799f512db8db5e023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0343F5868EC141A2B864C42F40562A" ma:contentTypeVersion="17" ma:contentTypeDescription="Create a new document." ma:contentTypeScope="" ma:versionID="91ca7ecd2a3739f7eb7b584396347df5">
  <xsd:schema xmlns:xsd="http://www.w3.org/2001/XMLSchema" xmlns:xs="http://www.w3.org/2001/XMLSchema" xmlns:p="http://schemas.microsoft.com/office/2006/metadata/properties" xmlns:ns2="92b78b11-5582-4f0d-9ede-26dc097105ae" xmlns:ns3="4b8b16d9-d63f-485d-9d73-fc963e0128fa" targetNamespace="http://schemas.microsoft.com/office/2006/metadata/properties" ma:root="true" ma:fieldsID="6052b3968d75ce793197191490e58e88" ns2:_="" ns3:_="">
    <xsd:import namespace="92b78b11-5582-4f0d-9ede-26dc097105ae"/>
    <xsd:import namespace="4b8b16d9-d63f-485d-9d73-fc963e0128f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TaxKeywordTaxHTField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2:b6c4508d405f4c0799f512db8db5e02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b78b11-5582-4f0d-9ede-26dc097105ae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KeywordTaxHTField" ma:index="11" nillable="true" ma:taxonomy="true" ma:internalName="TaxKeywordTaxHTField" ma:taxonomyFieldName="TaxKeyword" ma:displayName="Enterprise Keywords" ma:fieldId="{23f27201-bee3-471e-b2e7-b64fd8b7ca38}" ma:taxonomyMulti="true" ma:sspId="e53038de-4a72-4f52-b669-37ec1108696f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9e1188f2-f5a0-4e2d-9c7f-0a7c0c6d9b19}" ma:internalName="TaxCatchAll" ma:showField="CatchAllData" ma:web="92b78b11-5582-4f0d-9ede-26dc097105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b6c4508d405f4c0799f512db8db5e023" ma:index="26" nillable="true" ma:taxonomy="true" ma:internalName="b6c4508d405f4c0799f512db8db5e023" ma:taxonomyFieldName="ContentCategories" ma:displayName="ContentCategories" ma:fieldId="{b6c4508d-405f-4c07-99f5-12db8db5e023}" ma:taxonomyMulti="true" ma:sspId="e53038de-4a72-4f52-b669-37ec1108696f" ma:termSetId="11ca82cc-1984-43bf-8523-8bac93d93a0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b16d9-d63f-485d-9d73-fc963e0128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53038de-4a72-4f52-b669-37ec110869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6F2769-7194-4217-93D3-3AF3A4742282}">
  <ds:schemaRefs>
    <ds:schemaRef ds:uri="http://purl.org/dc/terms/"/>
    <ds:schemaRef ds:uri="http://purl.org/dc/elements/1.1/"/>
    <ds:schemaRef ds:uri="http://schemas.openxmlformats.org/package/2006/metadata/core-properties"/>
    <ds:schemaRef ds:uri="92b78b11-5582-4f0d-9ede-26dc097105a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4b8b16d9-d63f-485d-9d73-fc963e0128f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D00DFC-C4A3-43B8-9212-E8846D8E3A33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778117F-CA61-4A2E-BADD-784D869D0A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b78b11-5582-4f0d-9ede-26dc097105ae"/>
    <ds:schemaRef ds:uri="4b8b16d9-d63f-485d-9d73-fc963e0128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</TotalTime>
  <Words>1002</Words>
  <Application>Microsoft Office PowerPoint</Application>
  <PresentationFormat>Custom</PresentationFormat>
  <Paragraphs>206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Courier</vt:lpstr>
      <vt:lpstr>Wingdings</vt:lpstr>
      <vt:lpstr>Office Theme</vt:lpstr>
      <vt:lpstr>Simulator Lab Exercises for Kongsberg TPPS and Thermodynamics</vt:lpstr>
      <vt:lpstr>Overview</vt:lpstr>
      <vt:lpstr>The Challenge</vt:lpstr>
      <vt:lpstr>How SIM LABS Help</vt:lpstr>
      <vt:lpstr>Learning Benefits</vt:lpstr>
      <vt:lpstr>SIM LABS</vt:lpstr>
      <vt:lpstr>SIM LABS Featured in This Session</vt:lpstr>
      <vt:lpstr>Boiler Efficiency</vt:lpstr>
      <vt:lpstr>Objective and Theory</vt:lpstr>
      <vt:lpstr>Data Collection</vt:lpstr>
      <vt:lpstr>Heating Values: Trend Tags to Log</vt:lpstr>
      <vt:lpstr>Simulating Soot Buildup</vt:lpstr>
      <vt:lpstr>Normal Operation</vt:lpstr>
      <vt:lpstr>Soot Buildup</vt:lpstr>
      <vt:lpstr>Boiler Efficiency: Lab and Deliverables</vt:lpstr>
      <vt:lpstr>Turbine Efficiency</vt:lpstr>
      <vt:lpstr>Objective and Theory</vt:lpstr>
      <vt:lpstr>h-s Diagram</vt:lpstr>
      <vt:lpstr>Turbine Efficiency: 101 MW Sample</vt:lpstr>
      <vt:lpstr>Turbine Efficiency: 250 MW Sample</vt:lpstr>
      <vt:lpstr>HP Turbine Efficiency (Abbreviated)</vt:lpstr>
      <vt:lpstr>Turbine Efficiency: Lab and Deliverables</vt:lpstr>
      <vt:lpstr>Power Plant Efficiency</vt:lpstr>
      <vt:lpstr>Objective and Theory</vt:lpstr>
      <vt:lpstr>Reheat and regeneration</vt:lpstr>
      <vt:lpstr>Hints &amp; Tips: Trend Tags to Log</vt:lpstr>
      <vt:lpstr>Hints &amp; Tips: Temperature Settings</vt:lpstr>
      <vt:lpstr>Lake Water Temperature Setting</vt:lpstr>
      <vt:lpstr>No steam extraction</vt:lpstr>
      <vt:lpstr>Power Plant Efficiency: Lab and Deliverables</vt:lpstr>
      <vt:lpstr>Summary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Serhat Beyenir</cp:lastModifiedBy>
  <cp:revision>67</cp:revision>
  <cp:lastPrinted>2015-11-03T18:29:20Z</cp:lastPrinted>
  <dcterms:created xsi:type="dcterms:W3CDTF">2017-04-18T23:00:51Z</dcterms:created>
  <dcterms:modified xsi:type="dcterms:W3CDTF">2026-09-03T15:22:44Z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0x010100EF0343F5868EC141A2B864C42F40562A</vt:lpwstr>
  </property>
  <property fmtid="{D5CDD505-2E9C-101B-9397-08002B2CF9AE}" pid="3" name="MediaServiceImageTags">
    <vt:lpwstr/>
  </property>
  <property fmtid="{D5CDD505-2E9C-101B-9397-08002B2CF9AE}" pid="4" name="_dlc_DocIdItemGuid">
    <vt:lpwstr>57b6b41c-eddc-4364-bd6a-15fe82ff43a4</vt:lpwstr>
  </property>
  <property fmtid="{D5CDD505-2E9C-101B-9397-08002B2CF9AE}" pid="5" name="TaxKeyword">
    <vt:lpwstr/>
  </property>
  <property fmtid="{D5CDD505-2E9C-101B-9397-08002B2CF9AE}" pid="6" name="ContentCategories">
    <vt:lpwstr/>
  </property>
</Properties>
</file>