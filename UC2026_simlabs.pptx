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Simulator Lab Exercises for Kongsberg TPPS and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Serhat Beyenir &amp; Sanja Boskovic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Simulator lab exercises (SIM LABS) support Thermodynamics and Thermal Power Plant Simulator (TPPS) courses</a:t>
            </a:r>
          </a:p>
          <a:p>
            <a:pPr lvl="0"/>
            <a:r>
              <a:rPr/>
              <a:t>Built on Kongsberg’s TPPS platform</a:t>
            </a:r>
          </a:p>
          <a:p>
            <a:pPr lvl="0"/>
            <a:r>
              <a:rPr/>
              <a:t>This session presents a selection of SIM LABS developed for classroom and lab use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Power Engineering students often struggle with theoretical concepts</a:t>
            </a:r>
          </a:p>
          <a:p>
            <a:pPr lvl="0"/>
            <a:r>
              <a:rPr/>
              <a:t>Instructors face limited instructional time to cover both theory and practice</a:t>
            </a:r>
          </a:p>
          <a:p>
            <a:pPr lvl="0"/>
            <a:r>
              <a:rPr/>
              <a:t>A gap remains between classroom theory and hands on plant operation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SIM LABS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Strengthen understanding of core ThermoFluids principles</a:t>
            </a:r>
          </a:p>
          <a:p>
            <a:pPr lvl="0"/>
            <a:r>
              <a:rPr/>
              <a:t>Support application of theory in realistic operational contexts</a:t>
            </a:r>
          </a:p>
          <a:p>
            <a:pPr lvl="0"/>
            <a:r>
              <a:rPr/>
              <a:t>Allow students to visualize processes and explore system behaviour</a:t>
            </a:r>
          </a:p>
          <a:p>
            <a:pPr lvl="0"/>
            <a:r>
              <a:rPr/>
              <a:t>Build cause and effect connections between operating parameters and outcomes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Enhance conceptual comprehension</a:t>
            </a:r>
          </a:p>
          <a:p>
            <a:pPr lvl="0"/>
            <a:r>
              <a:rPr/>
              <a:t>Prepare learners for hands on work with real equipment in a physical plant</a:t>
            </a:r>
          </a:p>
          <a:p>
            <a:pPr lvl="0"/>
            <a:r>
              <a:rPr/>
              <a:t>Reinforce safe operational practices</a:t>
            </a:r>
          </a:p>
          <a:p>
            <a:pPr lvl="0"/>
            <a:r>
              <a:rPr/>
              <a:t>Build environmental awareness within steam plant 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Boiler Efficiency</a:t>
            </a:r>
          </a:p>
          <a:p>
            <a:pPr lvl="0"/>
            <a:r>
              <a:rPr/>
              <a:t>Turbine Efficiency</a:t>
            </a:r>
          </a:p>
          <a:p>
            <a:pPr lvl="0"/>
            <a:r>
              <a:rPr/>
              <a:t>Power Plant Efficiency</a:t>
            </a:r>
          </a:p>
          <a:p>
            <a:pPr lvl="0"/>
            <a:r>
              <a:rPr/>
              <a:t>NOx Emissions</a:t>
            </a:r>
          </a:p>
          <a:p>
            <a:pPr lvl="0"/>
            <a:r>
              <a:rPr/>
              <a:t>Heat Exchangers</a:t>
            </a:r>
          </a:p>
          <a:p>
            <a:pPr lvl="0"/>
            <a:r>
              <a:rPr/>
              <a:t>Combustion Analysis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 LABS Featured in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Boiler Efficiency</a:t>
            </a:r>
          </a:p>
          <a:p>
            <a:pPr lvl="0"/>
            <a:r>
              <a:rPr/>
              <a:t>Turbine Efficiency</a:t>
            </a:r>
          </a:p>
          <a:p>
            <a:pPr lvl="0"/>
            <a:r>
              <a:rPr/>
              <a:t>Power Plant Efficiency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Boiler Efficiency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 and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Operate the plant in four modes and compute boiler thermal efficiency: 230 MW burning HFO, 80% load burning biofuel, 80% load burning coal, and 80% load burning coal with soot buildup</a:t>
                </a:r>
              </a:p>
              <a:p>
                <a:pPr lvl="0"/>
                <a:r>
                  <a:rPr/>
                  <a:t>Boiler thermal efficiency is the ratio of energy to steam over energy from fuel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η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boiler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s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f</m:t>
                              </m:r>
                            </m:sub>
                          </m:sSub>
                          <m:r>
                            <m:t>H</m:t>
                          </m:r>
                          <m:r>
                            <m:t>V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Collection</a:t>
            </a:r>
          </a:p>
        </p:txBody>
      </p:sp>
      <p:pic>
        <p:nvPicPr>
          <p:cNvPr descr="figures/Trend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43200" y="1193800"/>
            <a:ext cx="3644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Use of trends.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Heating Values: Trend Tags to Log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H00810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HFO heating value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H00870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Pellet heating value (biofuel)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H00830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Coal heating value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Simulating Soot Buildup</a:t>
            </a:r>
          </a:p>
        </p:txBody>
      </p:sp>
      <p:pic>
        <p:nvPicPr>
          <p:cNvPr descr="figures/so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Coal operation with soot buildup.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 Operation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5232400"/>
                <a:gridCol w="1333500"/>
                <a:gridCol w="774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P02601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pressure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144.72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bara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T02602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temperature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537.81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°C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H02603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T02447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up heat exchanger feedw outlet temp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248.92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°C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H02448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up heat exchanger feedw outlet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1071.3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G02600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tonnes/h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Heat Transferred: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1528542675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Soot Buildup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5232400"/>
                <a:gridCol w="1333500"/>
                <a:gridCol w="774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P02601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pressure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141.72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bara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T02602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temperature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463.93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°C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H02603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3217.6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T02447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up heat exchanger feedw outlet temp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243.08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°C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H02448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 up heat exchanger feedw outlet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1046.3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G02600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line steam 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tonnes/h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Heat Transferred: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1446737190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Boiler Efficiency: Lab and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Four initial conditions: I10, I15, I14 (coal), and I14 with soot configured via MD250</a:t>
            </a:r>
          </a:p>
          <a:p>
            <a:pPr lvl="0"/>
            <a:r>
              <a:rPr/>
              <a:t>Log HFO, pellet, and coal heating value tags, then use steam tables to find enthalpy values</a:t>
            </a:r>
          </a:p>
          <a:p>
            <a:pPr lvl="0"/>
            <a:r>
              <a:rPr/>
              <a:t>Deliverables: trend plots for all four conditions, efficiency computations, and a conclusion comparing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Turbine Efficiency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 and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Operate the plant at 35% load, 80% load, and 230 MW to compute the isentropic enthalpy change and thermal efficiency for the HP turbine</a:t>
                </a:r>
              </a:p>
              <a:p>
                <a:pPr lvl="0"/>
                <a:r>
                  <a:rPr/>
                  <a:t>Turbine efficiency compares the actual enthalpy drop to the ideal, constant entropy expansion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η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Turbine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sSup>
                                <m:e>
                                  <m:r>
                                    <m:t>2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′</m:t>
                                  </m:r>
                                </m:sup>
                              </m:sSup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 higher pressure drop in a single stage increases the reheat factor and lowers efficiency, which is why multi-stage turbines with reheat perform better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h-s Diagram</a:t>
            </a:r>
          </a:p>
        </p:txBody>
      </p:sp>
      <p:pic>
        <p:nvPicPr>
          <p:cNvPr descr="figures/h-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68600" y="1193800"/>
            <a:ext cx="3619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Turbine Efficiency.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Turbine Efficiency: 101 MW Sample</a:t>
            </a:r>
          </a:p>
        </p:txBody>
      </p:sp>
      <p:pic>
        <p:nvPicPr>
          <p:cNvPr descr="figures/101M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I09 E23356: 101.05 MW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Turbine Efficiency: 250 MW Sample</a:t>
            </a:r>
          </a:p>
        </p:txBody>
      </p:sp>
      <p:pic>
        <p:nvPicPr>
          <p:cNvPr descr="figures/250M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I10 E23356: 249.86 MW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Turbine Efficiency (Abbreviated)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2954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I13 35%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I14 80%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I10 230 MW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H03008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Turbine steam enthalpy at control valve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3239.99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3403.27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H03016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Turbine steam enthalpy at outlet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2927.25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3083.99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3075.49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Z03020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HP turbine thermodynamic efficiency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Change in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337.01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327.78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Isentropic Change in Enthalpy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kJ/kg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363.86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381.23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Calculated ηTurbine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88.39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Turbine Efficiency: Lab and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Three initial conditions: I13 (35% load), I14 (80% load), and I10 (230 MW)</a:t>
            </a:r>
          </a:p>
          <a:p>
            <a:pPr lvl="0"/>
            <a:r>
              <a:rPr/>
              <a:t>Compare results across conditions to determine which load yields the most favourable efficiency</a:t>
            </a:r>
          </a:p>
          <a:p>
            <a:pPr lvl="0"/>
            <a:r>
              <a:rPr/>
              <a:t>Deliverables: trend plots for all three conditions, efficiency computations, and a conclusion with suggestions for further study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Plant Efficiency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 and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Operate the plant at full capacity and compute overall efficiency under three conditions: normal operation, high cooling water temperature (35°C), and without regeneration</a:t>
                </a:r>
              </a:p>
              <a:p>
                <a:pPr lvl="0"/>
                <a:r>
                  <a:rPr/>
                  <a:t>The Rankine cycle efficiency is net work output over heat supplied in the boiler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η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Rankine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Turbine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Pump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boiler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Reheat and regeneration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Reheat and regeneration both raise the average temperature at which heat is supplied, improving efficiency over the simple Rankine cycle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η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thermal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Turbines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Pumps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boiler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Reheat1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Reheat2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Hints &amp; Tips: Trend Tags to Log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Q02395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Reheater 1 transferred heat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Q02375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Reheater 2 transferred heat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Hints &amp; Tips: Temperature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</a:t>
            </a:r>
            <a:r>
              <a:rPr b="1"/>
              <a:t>Boiler Feedwater Inlet Temperature</a:t>
            </a:r>
            <a:r>
              <a:rPr/>
              <a:t>, use the Startup Heat Exchanger Feedwater Outlet Temperature (tag </a:t>
            </a:r>
            <a:r>
              <a:rPr>
                <a:latin typeface="Courier"/>
              </a:rPr>
              <a:t>T02447</a:t>
            </a:r>
            <a:r>
              <a:rPr/>
              <a:t>).</a:t>
            </a:r>
          </a:p>
          <a:p>
            <a:pPr lvl="0"/>
            <a:r>
              <a:rPr/>
              <a:t>For the third calculation, make sure you closed all steam extraction valves and set T00305 to 10°C: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Lake Water Temperature Setting</a:t>
            </a:r>
          </a:p>
        </p:txBody>
      </p:sp>
      <p:pic>
        <p:nvPicPr>
          <p:cNvPr descr="figures/LakeWaterTemp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Lake water temperature setting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steam extraction</a:t>
            </a:r>
          </a:p>
        </p:txBody>
      </p:sp>
      <p:pic>
        <p:nvPicPr>
          <p:cNvPr descr="figures/NoExtrac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1193800"/>
            <a:ext cx="535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steam extraction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Power Plant Efficiency: Lab and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initial condition I10 and draw a T-S diagram of the cycle including reheat and regeneration</a:t>
            </a:r>
          </a:p>
          <a:p>
            <a:pPr lvl="0"/>
            <a:r>
              <a:rPr/>
              <a:t>Set cooling water temperature (tag T00305) to 35°C for the high temperature case, and to 10°C with extraction valves closed for the no regeneration case</a:t>
            </a:r>
          </a:p>
          <a:p>
            <a:pPr lvl="0"/>
            <a:r>
              <a:rPr/>
              <a:t>Deliverables: T-S diagram, trend plots, efficiency computations for all three conditions, and a conclusion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SIM LABS bridge the gap between theory and practical plant operation</a:t>
            </a:r>
          </a:p>
          <a:p>
            <a:pPr lvl="0"/>
            <a:r>
              <a:rPr/>
              <a:t>Each lab pairs a theoretical model with hands on simulator operation, reinforcing safe practice and environmental awareness</a:t>
            </a:r>
          </a:p>
          <a:p>
            <a:pPr lvl="0"/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Simulator Lab Exercises for Kongsberg TPPS and Thermodynamics</dc:title>
  <dc:creator>Serhat Beyenir &amp; Sanja Boskovic</dc:creator>
  <cp:keywords/>
  <dcterms:created xsi:type="dcterms:W3CDTF">2026-09-02T20:18:47Z</dcterms:created>
  <dcterms:modified xsi:type="dcterms:W3CDTF">2026-09-02T20:18:47Z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