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SIM LABS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Simulator Lab Exercises for Thermodynamics and TPPS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Simulator lab exercises (SIM LABS) support Thermodynamics and Thermal Power Plant Simulator (TPPS) courses</a:t>
            </a:r>
          </a:p>
          <a:p>
            <a:pPr lvl="0"/>
            <a:r>
              <a:rPr/>
              <a:t>Built on Kongsberg’s TPPS platform</a:t>
            </a:r>
          </a:p>
          <a:p>
            <a:pPr lvl="0"/>
            <a:r>
              <a:rPr/>
              <a:t>This session presents a selection of SIM LABS developed for classroom and lab use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Power Engineering students often struggle with theoretical concepts</a:t>
            </a:r>
          </a:p>
          <a:p>
            <a:pPr lvl="0"/>
            <a:r>
              <a:rPr/>
              <a:t>Instructors face limited instructional time to cover both theory and practice</a:t>
            </a:r>
          </a:p>
          <a:p>
            <a:pPr lvl="0"/>
            <a:r>
              <a:rPr/>
              <a:t>A gap remains between classroom theory and hands on plant operation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SIM LABS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Strengthen understanding of core ThermoFluids principles</a:t>
            </a:r>
          </a:p>
          <a:p>
            <a:pPr lvl="0"/>
            <a:r>
              <a:rPr/>
              <a:t>Support application of theory in realistic operational contexts</a:t>
            </a:r>
          </a:p>
          <a:p>
            <a:pPr lvl="0"/>
            <a:r>
              <a:rPr/>
              <a:t>Allow students to visualize processes and explore system behaviour</a:t>
            </a:r>
          </a:p>
          <a:p>
            <a:pPr lvl="0"/>
            <a:r>
              <a:rPr/>
              <a:t>Build cause and effect connections between operating parameters and outcomes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Enhance conceptual comprehension</a:t>
            </a:r>
          </a:p>
          <a:p>
            <a:pPr lvl="0"/>
            <a:r>
              <a:rPr/>
              <a:t>Prepare learners for hands on work with real equipment in a physical plant</a:t>
            </a:r>
          </a:p>
          <a:p>
            <a:pPr lvl="0"/>
            <a:r>
              <a:rPr/>
              <a:t>Reinforce safe operational practices</a:t>
            </a:r>
          </a:p>
          <a:p>
            <a:pPr lvl="0"/>
            <a:r>
              <a:rPr/>
              <a:t>Build environmental awareness within steam plant systems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 LABS Featured in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Boiler Efficiency</a:t>
            </a:r>
          </a:p>
          <a:p>
            <a:pPr lvl="0"/>
            <a:r>
              <a:rPr/>
              <a:t>Turbine Efficiency</a:t>
            </a:r>
          </a:p>
          <a:p>
            <a:pPr lvl="0"/>
            <a:r>
              <a:rPr/>
              <a:t>Power Plant Efficiency</a:t>
            </a:r>
          </a:p>
          <a:p>
            <a:pPr lvl="0"/>
            <a:r>
              <a:rPr/>
              <a:t>NOx Emissions</a:t>
            </a:r>
          </a:p>
          <a:p>
            <a:pPr lvl="0"/>
            <a:r>
              <a:rPr/>
              <a:t>Heat Exchangers</a:t>
            </a:r>
          </a:p>
          <a:p>
            <a:pPr lvl="0"/>
            <a:r>
              <a:rPr/>
              <a:t>Combustion Analysis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Boiler Efficiency: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in four modes and compute boiler thermal efficiency: 230 MW burning HFO, 80% load burning biofuel, 80% load burning coal, and 80% load burning coal with soot buildup</a:t>
                </a:r>
              </a:p>
              <a:p>
                <a:pPr lvl="0"/>
                <a:r>
                  <a:rPr/>
                  <a:t>Boiler thermal efficiency is the ratio of energy to steam over energy from fuel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boiler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s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m:t>m</m:t>
                              </m:r>
                            </m:e>
                            <m:sub>
                              <m:r>
                                <m:t>f</m:t>
                              </m:r>
                            </m:sub>
                          </m:sSub>
                          <m:r>
                            <m:t>H</m:t>
                          </m:r>
                          <m:r>
                            <m:t>V</m:t>
                          </m:r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Boiler Efficiency: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Four initial conditions: I10, I15, I14 (coal), and I14 with soot configured via MD250</a:t>
            </a:r>
          </a:p>
          <a:p>
            <a:pPr lvl="0"/>
            <a:r>
              <a:rPr/>
              <a:t>Log HFO, pellet, and coal heating value tags, then use steam tables to find enthalpy values</a:t>
            </a:r>
          </a:p>
          <a:p>
            <a:pPr lvl="0"/>
            <a:r>
              <a:rPr/>
              <a:t>Deliverables: trend plots for all four conditions, efficiency computations, and a conclusion comparing results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Turbine Efficiency: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35% load, 80% load, and 230 MW to compute the isentropic enthalpy change and thermal efficiency for the HP turbine</a:t>
                </a:r>
              </a:p>
              <a:p>
                <a:pPr lvl="0"/>
                <a:r>
                  <a:rPr/>
                  <a:t>Turbine efficiency compares the actual enthalpy drop to the ideal, constant entropy expansion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Turbine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sSup>
                                <m:e>
                                  <m: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 higher pressure drop in a single stage increases the reheat factor and lowers efficiency, which is why multi-stage turbines with reheat perform better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Turbine Efficiency: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Three initial conditions: I13 (35% load), I14 (80% load), and I10 (230 MW)</a:t>
            </a:r>
          </a:p>
          <a:p>
            <a:pPr lvl="0"/>
            <a:r>
              <a:rPr/>
              <a:t>Compare results across conditions to determine which load yields the most favourable efficiency</a:t>
            </a:r>
          </a:p>
          <a:p>
            <a:pPr lvl="0"/>
            <a:r>
              <a:rPr/>
              <a:t>Deliverables: trend plots for all three conditions, efficiency computations, and a conclusion with suggestions for further study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Plant Efficiency: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full capacity and compute overall efficiency under three conditions: normal operation, high cooling water temperature (35°C), and without regeneration</a:t>
                </a:r>
              </a:p>
              <a:p>
                <a:pPr lvl="0"/>
                <a:r>
                  <a:rPr/>
                  <a:t>The Rankine cycle efficiency is net work output over heat supplied in the boiler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η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Rankine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Turbine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W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Pump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boiler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Reheat and regeneration both raise the average temperature at which heat is supplied, improving efficiency over the simple Rankine cycle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Power Plant Efficiency: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initial condition I10 and draw a T-S diagram of the cycle including reheat and regeneration</a:t>
            </a:r>
          </a:p>
          <a:p>
            <a:pPr lvl="0"/>
            <a:r>
              <a:rPr/>
              <a:t>Set cooling water temperature (tag T00305) to 35°C for the high temperature case, and to 10°C with extraction valves closed for the no regeneration case</a:t>
            </a:r>
          </a:p>
          <a:p>
            <a:pPr lvl="0"/>
            <a:r>
              <a:rPr/>
              <a:t>Deliverables: T-S diagram, trend plots, efficiency computations for all three conditions, and a conclusion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NOx Emissions: Objective and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Operate the plant at full capacity and compare NOx emissions under five conditions: normal, OFA damper failure, OBA control failure, poor quality fuel, and DeNOx plant bypassed</a:t>
            </a:r>
          </a:p>
          <a:p>
            <a:pPr lvl="0"/>
            <a:r>
              <a:rPr/>
              <a:t>NOx forms through two mechanisms: thermal NOx, which rises exponentially with flame temperature, and fuel-bound NOx, which depends on fuel nitrogen content</a:t>
            </a:r>
          </a:p>
          <a:p>
            <a:pPr lvl="0"/>
            <a:r>
              <a:rPr/>
              <a:t>The DeNOx plant uses selective catalytic reduction with ammonia to remove NOx from flue gas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NOx Emissions: Lab and Deliverables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Establish a stable operation baseline, then activate OFA malfunction 0881 and OBA malfunction 0780 in turn, switch to poor quality coal, and bypass SCR 1 and SCR 2</a:t>
                </a:r>
              </a:p>
              <a:p>
                <a:pPr lvl="0"/>
                <a:r>
                  <a:rPr/>
                  <a:t>Tabulate percentage deviation from baseline for each condition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Percentage deviation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Current Value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nor/>
                              <m:sty m:val="p"/>
                            </m:rPr>
                            <m:t>Reference Value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Reference Value</m:t>
                          </m:r>
                        </m:den>
                      </m:f>
                      <m:r>
                        <m:rPr>
                          <m:sty m:val="p"/>
                        </m:rPr>
                        <m:t>×</m:t>
                      </m:r>
                      <m:r>
                        <m:t>100</m:t>
                      </m:r>
                      <m:r>
                        <m:rPr>
                          <m:sty m:val="p"/>
                        </m:rPr>
                        <m:t>%</m:t>
                      </m:r>
                    </m:oMath>
                  </m:oMathPara>
                </a14:m>
              </a:p>
              <a:p>
                <a:pPr lvl="0"/>
                <a:r>
                  <a:rPr/>
                  <a:t>Deliverables: labelled trend plots, deviation calculations and plots, and a conclusion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Heat Exchangers: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full capacity and study the effect of heat exchanger surface area using LP Feed Heater 3</a:t>
                </a:r>
              </a:p>
              <a:p>
                <a:pPr lvl="0"/>
                <a:r>
                  <a:rPr/>
                  <a:t>Parallel flow heat exchangers have their largest temperature difference at the inlet, while counter flow heat exchangers maintain a more constant temperature difference along their length</a:t>
                </a:r>
              </a:p>
              <a:p>
                <a:pPr lvl="0"/>
                <a:r>
                  <a:rPr/>
                  <a:t>Heat transfer depends on the heat area factor (UA) and the log mean temperature difference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Q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U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Δ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LMTD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ε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Q</m:t>
                          </m:r>
                        </m:num>
                        <m:den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Heat Exchangers: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initial condition I10 and vary the Heat Area Factor (tag C34201) across three levels: 0.5, 1.0, and 1.5</a:t>
            </a:r>
          </a:p>
          <a:p>
            <a:pPr lvl="0"/>
            <a:r>
              <a:rPr/>
              <a:t>Run each setting for 15 minutes, then freeze and print trends</a:t>
            </a:r>
          </a:p>
          <a:p>
            <a:pPr lvl="0"/>
            <a:r>
              <a:rPr/>
              <a:t>Deliverables: labelled trend plots for each setting, LMTD and effectiveness calculations, and a conclusion comparing the three tests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Combustion Analysis: Objective and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Operate the plant at 80% capacity burning coal to perform combustion analyses for two coal types and compare results</a:t>
                </a:r>
              </a:p>
              <a:p>
                <a:pPr lvl="0"/>
                <a:r>
                  <a:rPr/>
                  <a:t>The stoichiometric combustion equation balances carbon, hydrogen, and nitrogen between fuel and air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C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H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y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O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79</m:t>
                              </m:r>
                            </m:num>
                            <m:den>
                              <m:r>
                                <m:t>21</m:t>
                              </m:r>
                            </m:den>
                          </m:f>
                          <m:r>
                            <m:t> </m:t>
                          </m:r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N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→</m:t>
                      </m:r>
                      <m:r>
                        <m:t>a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CO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H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nor/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t> 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N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:r>
                  <a:rPr/>
                  <a:t>Worked example: stoichiometric combustion of octane yields an air to fuel mass ratio of 15.25 kg air per kg fuel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Combustion Analysis: Lab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initial condition I14 with default coal, then switch to poor quality coal using Variable List page 0111 on MD180</a:t>
            </a:r>
          </a:p>
          <a:p>
            <a:pPr lvl="0"/>
            <a:r>
              <a:rPr/>
              <a:t>For both fuels, calculate total O2 required, stoichiometric air, product mass, and mass percentage of CO2, H2O, SO2, and N2</a:t>
            </a:r>
          </a:p>
          <a:p>
            <a:pPr lvl="0"/>
            <a:r>
              <a:rPr/>
              <a:t>Compare furnace outlet SOx and NOx flow, CO and O2 content, theoretical combustion air, and coal heat value</a:t>
            </a:r>
          </a:p>
          <a:p>
            <a:pPr lvl="0"/>
            <a:r>
              <a:rPr/>
              <a:t>Deliverables: labelled trend plots, combustion analyses for both fuels, and a conclusion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 LABS bridge the gap between theory and practical plant operation</a:t>
            </a:r>
          </a:p>
          <a:p>
            <a:pPr lvl="0"/>
            <a:r>
              <a:rPr/>
              <a:t>Six labs featured today span efficiency, emissions, heat transfer, and combustion topics</a:t>
            </a:r>
          </a:p>
          <a:p>
            <a:pPr lvl="0"/>
            <a:r>
              <a:rPr/>
              <a:t>Each lab pairs a theoretical model with hands on simulator operation, reinforcing safe practice and environmental awareness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 LABS</dc:title>
  <dc:creator/>
  <cp:keywords/>
  <dcterms:created xsi:type="dcterms:W3CDTF">2026-09-01T17:21:44Z</dcterms:created>
  <dcterms:modified xsi:type="dcterms:W3CDTF">2026-09-01T17:21:44Z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Simulator Lab Exercises for Thermodynamics and TPPS</vt:lpwstr>
  </property>
  <property fmtid="{D5CDD505-2E9C-101B-9397-08002B2CF9AE}" pid="8" name="toc-title">
    <vt:lpwstr>Table of contents</vt:lpwstr>
  </property>
</Properties>
</file>